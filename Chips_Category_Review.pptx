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drawings/drawing1.xml" ContentType="application/vnd.openxmlformats-officedocument.drawingml.chartshapes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drawings/drawing2.xml" ContentType="application/vnd.openxmlformats-officedocument.drawingml.chartshapes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drawings/drawing3.xml" ContentType="application/vnd.openxmlformats-officedocument.drawingml.chartshapes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drawings/drawing4.xml" ContentType="application/vnd.openxmlformats-officedocument.drawingml.chartshapes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drawings/drawing5.xml" ContentType="application/vnd.openxmlformats-officedocument.drawingml.chartshape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7.xml" ContentType="application/vnd.openxmlformats-officedocument.drawingml.chart+xml"/>
  <Override PartName="/ppt/drawings/drawing6.xml" ContentType="application/vnd.openxmlformats-officedocument.drawingml.chartshape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5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.xml"/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3.xml"/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4.xml"/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5.xml"/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6.xml"/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1177680410916377"/>
          <c:y val="3.8194444444444448E-2"/>
          <c:w val="0.72995142240284483"/>
          <c:h val="0.78436324365704291"/>
        </c:manualLayout>
      </c:layout>
      <c:barChart>
        <c:barDir val="bar"/>
        <c:grouping val="clustered"/>
        <c:varyColors val="0"/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00000"/>
                </a:solidFill>
                <a:latin typeface="Arial"/>
              </a:rPr>
              <a:t>Revenue Share by Customer Type</a:t>
            </a:r>
          </a:p>
        </c:rich>
      </c:tx>
      <c:overlay val="0"/>
    </c:title>
    <c:autoTitleDeleted val="0"/>
    <c:plotArea>
      <c:layout/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  <c:userShapes r:id="rId2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E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  <c:userShapes r:id="rId2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E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  <c:userShapes r:id="rId2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426901064450277"/>
          <c:y val="0.31944444444444442"/>
          <c:w val="0.43552165354330707"/>
          <c:h val="0.58627296587926514"/>
        </c:manualLayout>
      </c:layout>
      <c:barChart>
        <c:barDir val="bar"/>
        <c:grouping val="clustered"/>
        <c:varyColors val="0"/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  <c:userShapes r:id="rId2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6340996168582376E-2"/>
          <c:y val="0.3923611111111111"/>
          <c:w val="0.32231800766283525"/>
          <c:h val="0.18402777777777779"/>
        </c:manualLayout>
      </c:layout>
      <c:barChart>
        <c:barDir val="col"/>
        <c:grouping val="clustered"/>
        <c:varyColors val="0"/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  <c:userShapes r:id="rId2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  <c:userShapes r:id="rId2"/>
</c:chartSpac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drawing4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_rels/drawing5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drawing6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7819E703-E566-FE10-4A85-12F52304E454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8353425" cy="8639175"/>
        </a:xfrm>
        <a:prstGeom xmlns:a="http://schemas.openxmlformats.org/drawingml/2006/main" prst="rect">
          <a:avLst/>
        </a:prstGeom>
      </cdr:spPr>
    </cdr:pic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689A60B4-7FBF-BE3C-0450-A589C9259F6A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9353550" cy="5191125"/>
        </a:xfrm>
        <a:prstGeom xmlns:a="http://schemas.openxmlformats.org/drawingml/2006/main" prst="rect">
          <a:avLst/>
        </a:prstGeom>
      </cdr:spPr>
    </cdr:pic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BA6408BC-45BE-6B1F-1C3E-1B8F459FA814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9020175" cy="4457700"/>
        </a:xfrm>
        <a:prstGeom xmlns:a="http://schemas.openxmlformats.org/drawingml/2006/main" prst="rect">
          <a:avLst/>
        </a:prstGeom>
      </cdr:spPr>
    </cdr:pic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BD11176D-50FF-4EEC-9165-3FF5311F53A7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7495"/>
          <a:ext cx="5852160" cy="3931920"/>
        </a:xfrm>
        <a:prstGeom xmlns:a="http://schemas.openxmlformats.org/drawingml/2006/main" prst="rect">
          <a:avLst/>
        </a:prstGeom>
      </cdr:spPr>
    </cdr:pic>
  </cdr:relSizeAnchor>
</c:userShapes>
</file>

<file path=ppt/drawings/drawing5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22BB3A7C-F127-EB1E-7A66-41B25937B736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6581775" cy="5600700"/>
        </a:xfrm>
        <a:prstGeom xmlns:a="http://schemas.openxmlformats.org/drawingml/2006/main" prst="rect">
          <a:avLst/>
        </a:prstGeom>
      </cdr:spPr>
    </cdr:pic>
  </cdr:relSizeAnchor>
</c:userShapes>
</file>

<file path=ppt/drawings/drawing6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3" name="chart">
          <a:extLst xmlns:a="http://schemas.openxmlformats.org/drawingml/2006/main">
            <a:ext uri="{FF2B5EF4-FFF2-40B4-BE49-F238E27FC236}">
              <a16:creationId xmlns:a16="http://schemas.microsoft.com/office/drawing/2014/main" id="{DBF85702-8BCE-E537-BDEB-41592FA6E5AA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3977640" cy="2669748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0476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80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14990"/>
            <a:ext cx="8979408" cy="51435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0D6E6E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046720" y="-274320"/>
            <a:ext cx="1371600" cy="1371600"/>
          </a:xfrm>
          <a:prstGeom prst="ellipse">
            <a:avLst/>
          </a:prstGeom>
          <a:solidFill>
            <a:srgbClr val="F4800A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dirty="0">
                <a:solidFill>
                  <a:srgbClr val="000000"/>
                </a:solidFill>
              </a:rPr>
              <a:t>🍟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Chips Category Review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0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Analytics  |  Trial Store Performance &amp; Customer Insights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3200400" cy="45720"/>
          </a:xfrm>
          <a:prstGeom prst="rect">
            <a:avLst/>
          </a:prstGeom>
          <a:solidFill>
            <a:srgbClr val="F480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Burhan  |  April 2026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6E6E"/>
          </a:solidFill>
          <a:ln/>
        </p:spPr>
        <p:txBody>
          <a:bodyPr/>
          <a:lstStyle/>
          <a:p>
            <a:r>
              <a:rPr lang="en-IN" dirty="0"/>
              <a:t>                                                  Chips Category Review | Retail Analytics</a:t>
            </a:r>
          </a:p>
        </p:txBody>
      </p:sp>
      <p:sp>
        <p:nvSpPr>
          <p:cNvPr id="12" name="Text 10"/>
          <p:cNvSpPr/>
          <p:nvPr/>
        </p:nvSpPr>
        <p:spPr>
          <a:xfrm>
            <a:off x="0" y="46817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r>
              <a:rPr lang="en-IN" dirty="0"/>
              <a:t>:</a:t>
            </a:r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: </a:t>
            </a:r>
            <a:r>
              <a:rPr lang="en-US" sz="1400" b="1" dirty="0">
                <a:solidFill>
                  <a:schemeClr val="bg1"/>
                </a:solidFill>
              </a:rPr>
              <a:t>The objective of this analysis was to evaluate customer behavior and assess the effectiveness of a new store layout.</a:t>
            </a:r>
          </a:p>
        </p:txBody>
      </p:sp>
      <p:sp>
        <p:nvSpPr>
          <p:cNvPr id="4" name="Shape 2"/>
          <p:cNvSpPr/>
          <p:nvPr/>
        </p:nvSpPr>
        <p:spPr>
          <a:xfrm>
            <a:off x="320040" y="830455"/>
            <a:ext cx="4114800" cy="3108960"/>
          </a:xfrm>
          <a:prstGeom prst="rect">
            <a:avLst/>
          </a:prstGeom>
          <a:solidFill>
            <a:srgbClr val="E8F4F4"/>
          </a:solidFill>
          <a:ln w="19050">
            <a:solidFill>
              <a:srgbClr val="0D6E6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Key Findings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38404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segments (Retirees, Older Singles) = biggest sales drivers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Mainstream &amp; Budget customers = majority of revenue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100–200g pack size = most popular category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results were mixed across 3 stores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822960"/>
            <a:ext cx="4114800" cy="1691640"/>
          </a:xfrm>
          <a:prstGeom prst="rect">
            <a:avLst/>
          </a:prstGeom>
          <a:solidFill>
            <a:srgbClr val="F0F9F9"/>
          </a:solidFill>
          <a:ln w="19050">
            <a:solidFill>
              <a:srgbClr val="0D6E6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846320" y="868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 Trial Store Results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00600" y="1325880"/>
            <a:ext cx="3840480" cy="292608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846320" y="13441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86:  ✅ Success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0600" y="1673352"/>
            <a:ext cx="3840480" cy="292608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46320" y="16916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88:  ✅ Success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00600" y="2020824"/>
            <a:ext cx="3840480" cy="292608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846320" y="20391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77:  ❌ Unsuccessful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651760"/>
            <a:ext cx="4114800" cy="1280160"/>
          </a:xfrm>
          <a:prstGeom prst="rect">
            <a:avLst/>
          </a:prstGeom>
          <a:solidFill>
            <a:srgbClr val="FFF3E8"/>
          </a:solidFill>
          <a:ln w="19050">
            <a:solidFill>
              <a:srgbClr val="F4800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846320" y="2697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8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Recommendation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310896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layout selectively (not all stores)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high-performing customer segments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0" y="4818888"/>
            <a:ext cx="9144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Chips Category Review  |  Retail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036445394"/>
              </p:ext>
            </p:extLst>
          </p:nvPr>
        </p:nvGraphicFramePr>
        <p:xfrm>
          <a:off x="6503483" y="4466844"/>
          <a:ext cx="1775585" cy="6766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6E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 |  Customer Insights: Lifestage Analysis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6172200" y="777240"/>
            <a:ext cx="2651760" cy="1005840"/>
          </a:xfrm>
          <a:prstGeom prst="rect">
            <a:avLst/>
          </a:prstGeom>
          <a:solidFill>
            <a:srgbClr val="D1FAE5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6" name="Text 3"/>
          <p:cNvSpPr/>
          <p:nvPr/>
        </p:nvSpPr>
        <p:spPr>
          <a:xfrm>
            <a:off x="6217920" y="822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🥇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812280" y="822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Sales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812280" y="112471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Singles/Couples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~₹402K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947672"/>
            <a:ext cx="2651760" cy="1005840"/>
          </a:xfrm>
          <a:prstGeom prst="rect">
            <a:avLst/>
          </a:prstGeom>
          <a:solidFill>
            <a:srgbClr val="DBEAFE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217920" y="19933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🥈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812280" y="199339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Highest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812280" y="2295144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~₹366K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72200" y="3118104"/>
            <a:ext cx="2651760" cy="1005840"/>
          </a:xfrm>
          <a:prstGeom prst="rect">
            <a:avLst/>
          </a:prstGeom>
          <a:solidFill>
            <a:srgbClr val="FEE2E2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217920" y="316382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812280" y="316382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812280" y="3465576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Families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~₹50K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172200" y="4297680"/>
            <a:ext cx="2651760" cy="594360"/>
          </a:xfrm>
          <a:prstGeom prst="rect">
            <a:avLst/>
          </a:prstGeom>
          <a:solidFill>
            <a:srgbClr val="FFF3E8"/>
          </a:solidFill>
          <a:ln w="19050">
            <a:solidFill>
              <a:srgbClr val="F480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6217920" y="431596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8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Older customers are the main revenue drivers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0" y="4842667"/>
            <a:ext cx="9144000" cy="3429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0" name="Text 17"/>
          <p:cNvSpPr/>
          <p:nvPr/>
        </p:nvSpPr>
        <p:spPr>
          <a:xfrm>
            <a:off x="0" y="4818888"/>
            <a:ext cx="9144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Chips Category Review  |  Retail Analytics</a:t>
            </a:r>
            <a:endParaRPr lang="en-US" sz="10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2B55B8E-88B6-3420-33C5-8E3953ED8A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48" y="640080"/>
            <a:ext cx="6147652" cy="41568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6E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 |  Customer Type Insights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949510953"/>
              </p:ext>
            </p:extLst>
          </p:nvPr>
        </p:nvGraphicFramePr>
        <p:xfrm>
          <a:off x="274320" y="777240"/>
          <a:ext cx="438912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937760" y="822960"/>
            <a:ext cx="3840480" cy="914400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5074920" y="88696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Mainstream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07492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~₹750K  —  Highest segment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937760" y="1920240"/>
            <a:ext cx="3840480" cy="914400"/>
          </a:xfrm>
          <a:prstGeom prst="rect">
            <a:avLst/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074920" y="198424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Budget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074920" y="2377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~₹676K  —  Strong contributor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937760" y="3017520"/>
            <a:ext cx="3840480" cy="9144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074920" y="308152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⚪ Premium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074920" y="3474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~₹507K  —  Lowest segment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937760" y="4206240"/>
            <a:ext cx="3840480" cy="640080"/>
          </a:xfrm>
          <a:prstGeom prst="rect">
            <a:avLst/>
          </a:prstGeom>
          <a:solidFill>
            <a:srgbClr val="FFF3E8"/>
          </a:solidFill>
          <a:ln w="19050">
            <a:solidFill>
              <a:srgbClr val="F480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5029200" y="42519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8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Mainstream &amp; Budget customers dominate chip sales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0" y="4818888"/>
            <a:ext cx="9144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Chips Category Review  |  Retail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6E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 |  Key Customer Segments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417800453"/>
              </p:ext>
            </p:extLst>
          </p:nvPr>
        </p:nvGraphicFramePr>
        <p:xfrm>
          <a:off x="274320" y="777240"/>
          <a:ext cx="859536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182880" y="4201668"/>
            <a:ext cx="4023360" cy="640080"/>
          </a:xfrm>
          <a:prstGeom prst="rect">
            <a:avLst/>
          </a:prstGeom>
          <a:solidFill>
            <a:srgbClr val="D1FAE5"/>
          </a:solidFill>
          <a:ln w="190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ext 3"/>
          <p:cNvSpPr/>
          <p:nvPr/>
        </p:nvSpPr>
        <p:spPr>
          <a:xfrm>
            <a:off x="365760" y="423367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Top: Older Budget Families &amp; Mainstream Singles/Couples.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846320" y="4206240"/>
            <a:ext cx="4023360" cy="64008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937760" y="423367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Lowest: New Families (₹11K–21K)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0" y="4818888"/>
            <a:ext cx="9144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Chips Category Review  |  Retail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6E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 |  Spending Behavior per Transaction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933871584"/>
              </p:ext>
            </p:extLst>
          </p:nvPr>
        </p:nvGraphicFramePr>
        <p:xfrm>
          <a:off x="274320" y="777240"/>
          <a:ext cx="85953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4160520"/>
            <a:ext cx="4114800" cy="685800"/>
          </a:xfrm>
          <a:prstGeom prst="rect">
            <a:avLst/>
          </a:prstGeom>
          <a:solidFill>
            <a:srgbClr val="D1FAE5"/>
          </a:solidFill>
          <a:ln w="190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ext 3"/>
          <p:cNvSpPr/>
          <p:nvPr/>
        </p:nvSpPr>
        <p:spPr>
          <a:xfrm>
            <a:off x="365760" y="42062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</a:t>
            </a:r>
            <a:r>
              <a:rPr lang="en-US" sz="1200" b="1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Spend</a:t>
            </a: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00" b="1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Midage and Young Singles/Couples (Mainstream).</a:t>
            </a:r>
            <a:endParaRPr lang="en-US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4754880" y="4160520"/>
            <a:ext cx="4114800" cy="68580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846320" y="42062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</a:t>
            </a:r>
            <a:r>
              <a:rPr lang="en-US" sz="12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Spend: Midage and Young Singles/Couples (Budget and Premium).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0" y="4818888"/>
            <a:ext cx="9144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Chips Category Review  |  Retail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6E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 |  Product Insights: Brand Performance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4009153893"/>
              </p:ext>
            </p:extLst>
          </p:nvPr>
        </p:nvGraphicFramePr>
        <p:xfrm>
          <a:off x="0" y="731520"/>
          <a:ext cx="585216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822960"/>
            <a:ext cx="2880360" cy="1508760"/>
          </a:xfrm>
          <a:prstGeom prst="rect">
            <a:avLst/>
          </a:prstGeom>
          <a:solidFill>
            <a:srgbClr val="D1FAE5"/>
          </a:solidFill>
          <a:ln w="19050">
            <a:solidFill>
              <a:srgbClr val="16A34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080760" y="8686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Top Brands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080760" y="1261872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KETTLE — ₹390K (Leader)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SMITHS, DORITOS, PRINGLES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943600" y="2468880"/>
            <a:ext cx="2880360" cy="137160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Text 6"/>
          <p:cNvSpPr/>
          <p:nvPr/>
        </p:nvSpPr>
        <p:spPr>
          <a:xfrm>
            <a:off x="6080760" y="25146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Low Performers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080760" y="2907792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CCS, NATURAL CHIP, CHEETOS AND SUNBITES.</a:t>
            </a:r>
            <a:endParaRPr lang="en-US" sz="1200" dirty="0">
              <a:solidFill>
                <a:srgbClr val="C00000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00000"/>
                </a:solidFill>
              </a:rPr>
              <a:t>Each contributed less than ₹20K in sales</a:t>
            </a:r>
          </a:p>
        </p:txBody>
      </p:sp>
      <p:sp>
        <p:nvSpPr>
          <p:cNvPr id="11" name="Shape 8"/>
          <p:cNvSpPr/>
          <p:nvPr/>
        </p:nvSpPr>
        <p:spPr>
          <a:xfrm>
            <a:off x="5943600" y="3977640"/>
            <a:ext cx="2880360" cy="685800"/>
          </a:xfrm>
          <a:prstGeom prst="rect">
            <a:avLst/>
          </a:prstGeom>
          <a:solidFill>
            <a:srgbClr val="FFF3E8"/>
          </a:solidFill>
          <a:ln w="19050">
            <a:solidFill>
              <a:srgbClr val="F480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035040" y="4005072"/>
            <a:ext cx="2697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8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Few brands dominate majority of sales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0" y="4818888"/>
            <a:ext cx="9144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Chips Category Review  |  Retail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6E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 |  Pack Size Insights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4066286434"/>
              </p:ext>
            </p:extLst>
          </p:nvPr>
        </p:nvGraphicFramePr>
        <p:xfrm>
          <a:off x="274320" y="777240"/>
          <a:ext cx="530352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06440" y="822960"/>
            <a:ext cx="3017520" cy="822960"/>
          </a:xfrm>
          <a:prstGeom prst="rect">
            <a:avLst/>
          </a:prstGeom>
          <a:solidFill>
            <a:srgbClr val="D1FAE5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5943600" y="8686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100–200g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943600" y="12618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₹1.46M  |  ⭐ Most Popular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806440" y="1828800"/>
            <a:ext cx="3017520" cy="822960"/>
          </a:xfrm>
          <a:prstGeom prst="rect">
            <a:avLst/>
          </a:prstGeom>
          <a:solidFill>
            <a:srgbClr val="DBEAFE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Text 6"/>
          <p:cNvSpPr/>
          <p:nvPr/>
        </p:nvSpPr>
        <p:spPr>
          <a:xfrm>
            <a:off x="5943600" y="18745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200–300g and 300-400g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943600" y="22677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₹244k and ₹ 213k  |  ✅ Moderate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806440" y="2834640"/>
            <a:ext cx="3017520" cy="822960"/>
          </a:xfrm>
          <a:prstGeom prst="rect">
            <a:avLst/>
          </a:prstGeom>
          <a:solidFill>
            <a:srgbClr val="FEE2E2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943600" y="28803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&lt;100g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943600" y="32735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  |  📉 Least Preferred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806440" y="3840480"/>
            <a:ext cx="3017520" cy="822960"/>
          </a:xfrm>
          <a:prstGeom prst="rect">
            <a:avLst/>
          </a:prstGeom>
          <a:solidFill>
            <a:srgbClr val="FFF3E8"/>
          </a:solidFill>
          <a:ln w="19050">
            <a:solidFill>
              <a:srgbClr val="F480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5897880" y="3867912"/>
            <a:ext cx="28346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8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Mid-size packs (100–200g) are most preferred by customers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0" y="4818888"/>
            <a:ext cx="9144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Chips Category Review  |  Retail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D6E6E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F4800A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48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Store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2286000" cy="45720"/>
          </a:xfrm>
          <a:prstGeom prst="rect">
            <a:avLst/>
          </a:prstGeom>
          <a:solidFill>
            <a:srgbClr val="F480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3840480" cy="2103120"/>
          </a:xfrm>
          <a:prstGeom prst="rect">
            <a:avLst/>
          </a:prstGeom>
          <a:solidFill>
            <a:srgbClr val="0D2A3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8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Objective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A0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 new store layout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A0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trial store performance vs control stores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A0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if layout should be rolled out widely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2377440"/>
            <a:ext cx="3840480" cy="2103120"/>
          </a:xfrm>
          <a:prstGeom prst="rect">
            <a:avLst/>
          </a:prstGeom>
          <a:solidFill>
            <a:srgbClr val="0D2A3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937760" y="24688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8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 Trial Stores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937760" y="2926080"/>
            <a:ext cx="320040" cy="320040"/>
          </a:xfrm>
          <a:prstGeom prst="ellipse">
            <a:avLst/>
          </a:prstGeom>
          <a:solidFill>
            <a:srgbClr val="F480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349240" y="29260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77  (Trial Group)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37760" y="3383280"/>
            <a:ext cx="320040" cy="320040"/>
          </a:xfrm>
          <a:prstGeom prst="ellipse">
            <a:avLst/>
          </a:prstGeom>
          <a:solidFill>
            <a:srgbClr val="F480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349240" y="33832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86  (Trial Group)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937760" y="3840480"/>
            <a:ext cx="320040" cy="320040"/>
          </a:xfrm>
          <a:prstGeom prst="ellipse">
            <a:avLst/>
          </a:prstGeom>
          <a:solidFill>
            <a:srgbClr val="F480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349240" y="3840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88  (Trial Group)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 |  Trial Store Results — Store by Store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43200" cy="3657600"/>
          </a:xfrm>
          <a:prstGeom prst="rect">
            <a:avLst/>
          </a:prstGeom>
          <a:solidFill>
            <a:srgbClr val="FEF2F2"/>
          </a:solidFill>
          <a:ln w="2540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743200" cy="6858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79552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77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5544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📉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UNSUCCESSFUL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9260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/>
              <a:t>Sales appeared to increase visually, but statistical testing (t-test) showed a significant negative impact, so the trial was unsuccessful</a:t>
            </a:r>
          </a:p>
        </p:txBody>
      </p:sp>
      <p:sp>
        <p:nvSpPr>
          <p:cNvPr id="10" name="Text 8"/>
          <p:cNvSpPr/>
          <p:nvPr/>
        </p:nvSpPr>
        <p:spPr>
          <a:xfrm>
            <a:off x="411480" y="37033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stores showed better performance during the same period.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777240"/>
            <a:ext cx="2743200" cy="3657600"/>
          </a:xfrm>
          <a:prstGeom prst="rect">
            <a:avLst/>
          </a:prstGeom>
          <a:solidFill>
            <a:srgbClr val="F0FDF4"/>
          </a:solidFill>
          <a:ln w="25400">
            <a:solidFill>
              <a:srgbClr val="16A34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200400" y="777240"/>
            <a:ext cx="2743200" cy="68580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291840" y="79552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86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49040" y="15544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📈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291840" y="23317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SUCCESSFUL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29260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increased significantly above control stores.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37033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positive customer response. Layout worked well here.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777240"/>
            <a:ext cx="2743200" cy="3657600"/>
          </a:xfrm>
          <a:prstGeom prst="rect">
            <a:avLst/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126480" y="777240"/>
            <a:ext cx="2743200" cy="6858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217920" y="79552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88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675120" y="15544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217920" y="23317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SUCCESSFUL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63640" y="29260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/>
              <a:t>Moderate sales increase observed compared to control stores</a:t>
            </a:r>
          </a:p>
        </p:txBody>
      </p:sp>
      <p:sp>
        <p:nvSpPr>
          <p:cNvPr id="24" name="Text 22"/>
          <p:cNvSpPr/>
          <p:nvPr/>
        </p:nvSpPr>
        <p:spPr>
          <a:xfrm>
            <a:off x="6263640" y="37033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response. Consistent improvement over the trial period.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0" y="4818888"/>
            <a:ext cx="9144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Chips Category Review  |  Retail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 |  Trial Performance Summary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25781122"/>
              </p:ext>
            </p:extLst>
          </p:nvPr>
        </p:nvGraphicFramePr>
        <p:xfrm>
          <a:off x="457200" y="822960"/>
          <a:ext cx="41148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846320" y="822960"/>
            <a:ext cx="3977640" cy="1371600"/>
          </a:xfrm>
          <a:prstGeom prst="rect">
            <a:avLst/>
          </a:prstGeom>
          <a:solidFill>
            <a:srgbClr val="D1FAE5"/>
          </a:solidFill>
          <a:ln w="19050">
            <a:solidFill>
              <a:srgbClr val="16A34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5029200" y="8686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Successful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029200" y="1298448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out of 3 stores improved sales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86 &amp; Store 88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846320" y="2340864"/>
            <a:ext cx="3977640" cy="137160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029200" y="23774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Unsuccessful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029200" y="2807208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out of 3 stores showed decline.</a:t>
            </a:r>
          </a:p>
          <a:p>
            <a:r>
              <a:rPr lang="en-US" sz="1200" dirty="0">
                <a:solidFill>
                  <a:srgbClr val="FF0000"/>
                </a:solidFill>
              </a:rPr>
              <a:t>Although Store 77 shows an increase in sales visually, statistical testing (t-test) indicates a significant negative impact, so the trial is not considered successful for this store </a:t>
            </a:r>
          </a:p>
        </p:txBody>
      </p:sp>
      <p:sp>
        <p:nvSpPr>
          <p:cNvPr id="11" name="Shape 8"/>
          <p:cNvSpPr/>
          <p:nvPr/>
        </p:nvSpPr>
        <p:spPr>
          <a:xfrm>
            <a:off x="4846320" y="3840480"/>
            <a:ext cx="3977640" cy="685800"/>
          </a:xfrm>
          <a:prstGeom prst="rect">
            <a:avLst/>
          </a:prstGeom>
          <a:solidFill>
            <a:srgbClr val="FFF3E8"/>
          </a:solidFill>
          <a:ln w="19050">
            <a:solidFill>
              <a:srgbClr val="F480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4937760" y="3867912"/>
            <a:ext cx="3794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8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Store characteristics significantly affect layout success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0" y="4818888"/>
            <a:ext cx="9144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Chips Category Review  |  Retail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480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Final 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1691640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84048" y="932688"/>
            <a:ext cx="457200" cy="457200"/>
          </a:xfrm>
          <a:prstGeom prst="ellipse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84048" y="950976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32688" y="9144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 Selective Rollout Only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roll out the new layout to all stores. Apply only to stores with similar characteristics to Store 86 &amp; 88.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4206240" cy="1691640"/>
          </a:xfrm>
          <a:prstGeom prst="rect">
            <a:avLst/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818888" y="932688"/>
            <a:ext cx="457200" cy="457200"/>
          </a:xfrm>
          <a:prstGeom prst="ellipse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18888" y="950976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67528" y="9144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Investigate Store 77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137160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why Store 77's sales dropped. Identify unique store characteristics before any further decisions.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697480"/>
            <a:ext cx="4206240" cy="1691640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84048" y="2807208"/>
            <a:ext cx="457200" cy="457200"/>
          </a:xfrm>
          <a:prstGeom prst="ellipse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84048" y="2825496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32688" y="278892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Target Key Segments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24612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marketing &amp; product placement on Older Customers, Mainstream &amp; Budget Customer Type— they drive the most revenue.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2697480"/>
            <a:ext cx="4206240" cy="1691640"/>
          </a:xfrm>
          <a:prstGeom prst="rect">
            <a:avLst/>
          </a:prstGeom>
          <a:solidFill>
            <a:srgbClr val="FFF3E8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818888" y="2807208"/>
            <a:ext cx="457200" cy="457200"/>
          </a:xfrm>
          <a:prstGeom prst="ellipse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18888" y="2825496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67528" y="278892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Boost Top Products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92040" y="324612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shelf space for top brands (KETTLE, SMITHS) and prioritize 100–200g pack sizes in all stores.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0" y="4818888"/>
            <a:ext cx="9144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Chips Category Review  |  Retail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D6E6E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457200" y="3840480"/>
            <a:ext cx="1828800" cy="1828800"/>
          </a:xfrm>
          <a:prstGeom prst="ellipse">
            <a:avLst/>
          </a:prstGeom>
          <a:solidFill>
            <a:srgbClr val="F4800A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828800" cy="45720"/>
          </a:xfrm>
          <a:prstGeom prst="rect">
            <a:avLst/>
          </a:prstGeom>
          <a:solidFill>
            <a:srgbClr val="F480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658368"/>
          </a:xfrm>
          <a:prstGeom prst="rect">
            <a:avLst/>
          </a:prstGeom>
          <a:solidFill>
            <a:srgbClr val="0D2A3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F480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148132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481328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Test the new layout in more stores similar to Store 86 &amp; 88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solidFill>
            <a:srgbClr val="0D2A3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48640" y="2258568"/>
            <a:ext cx="457200" cy="457200"/>
          </a:xfrm>
          <a:prstGeom prst="ellipse">
            <a:avLst/>
          </a:prstGeom>
          <a:solidFill>
            <a:srgbClr val="F480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2276856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276856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Monitor long-term performance over next 6–12 months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962656"/>
            <a:ext cx="8229600" cy="658368"/>
          </a:xfrm>
          <a:prstGeom prst="rect">
            <a:avLst/>
          </a:prstGeom>
          <a:solidFill>
            <a:srgbClr val="0D2A3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48640" y="3054096"/>
            <a:ext cx="457200" cy="457200"/>
          </a:xfrm>
          <a:prstGeom prst="ellipse">
            <a:avLst/>
          </a:prstGeom>
          <a:solidFill>
            <a:srgbClr val="F480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48640" y="3072384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3072384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Improve product placement for top brands &amp; popular pack sizes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758184"/>
            <a:ext cx="8229600" cy="658368"/>
          </a:xfrm>
          <a:prstGeom prst="rect">
            <a:avLst/>
          </a:prstGeom>
          <a:solidFill>
            <a:srgbClr val="0D2A3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48640" y="3849624"/>
            <a:ext cx="457200" cy="457200"/>
          </a:xfrm>
          <a:prstGeom prst="ellipse">
            <a:avLst/>
          </a:prstGeom>
          <a:solidFill>
            <a:srgbClr val="F480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48640" y="386791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3867912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Conduct deeper analysis on Store 77 failure to prevent repeat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8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802</Words>
  <Application>Microsoft Office PowerPoint</Application>
  <PresentationFormat>On-screen Show (16:9)</PresentationFormat>
  <Paragraphs>145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Chips Category Review</dc:title>
  <dc:subject>PptxGenJS Presentation</dc:subject>
  <dc:creator>PptxGenJS</dc:creator>
  <cp:lastModifiedBy>burhan jalal</cp:lastModifiedBy>
  <cp:revision>3</cp:revision>
  <dcterms:created xsi:type="dcterms:W3CDTF">2026-04-09T02:43:30Z</dcterms:created>
  <dcterms:modified xsi:type="dcterms:W3CDTF">2026-04-09T03:50:19Z</dcterms:modified>
</cp:coreProperties>
</file>